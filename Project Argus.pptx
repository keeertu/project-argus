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2"/>
  </p:notesMasterIdLst>
  <p:sldIdLst>
    <p:sldId id="256" r:id="rId2"/>
    <p:sldId id="257" r:id="rId3"/>
    <p:sldId id="258" r:id="rId4"/>
    <p:sldId id="259" r:id="rId5"/>
    <p:sldId id="260" r:id="rId6"/>
    <p:sldId id="262" r:id="rId7"/>
    <p:sldId id="263" r:id="rId8"/>
    <p:sldId id="264" r:id="rId9"/>
    <p:sldId id="265" r:id="rId10"/>
    <p:sldId id="266" r:id="rId11"/>
  </p:sldIdLst>
  <p:sldSz cx="9144000" cy="5143500" type="screen16x9"/>
  <p:notesSz cx="6858000" cy="9144000"/>
  <p:embeddedFontLst>
    <p:embeddedFont>
      <p:font typeface="Manrope" panose="020B0604020202020204" charset="0"/>
      <p:regular r:id="rId13"/>
      <p:bold r:id="rId14"/>
    </p:embeddedFont>
    <p:embeddedFont>
      <p:font typeface="Manrope SemiBold" panose="020B0604020202020204" charset="0"/>
      <p:regular r:id="rId15"/>
      <p:bold r:id="rId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5" d="100"/>
          <a:sy n="115" d="100"/>
        </p:scale>
        <p:origin x="514" y="77"/>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g3b6c7e62156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g3b6c7e62156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3b6c7e62156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3b6c7e62156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3b6c7e62156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3b6c7e62156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3b6c7e62156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3b6c7e62156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b6c7e62156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3b6c7e62156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3b6c7e62156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3b6c7e62156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3b6c7e62156_0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3b6c7e62156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3b6c7e62156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3b6c7e62156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b6c7e62156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3b6c7e62156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54" name="Google Shape;54;p13" title="Artscfghgboard – 5.png"/>
          <p:cNvPicPr preferRelativeResize="0"/>
          <p:nvPr/>
        </p:nvPicPr>
        <p:blipFill>
          <a:blip r:embed="rId3">
            <a:alphaModFix/>
          </a:blip>
          <a:stretch>
            <a:fillRect/>
          </a:stretch>
        </p:blipFill>
        <p:spPr>
          <a:xfrm>
            <a:off x="0" y="0"/>
            <a:ext cx="9144018" cy="5143501"/>
          </a:xfrm>
          <a:prstGeom prst="rect">
            <a:avLst/>
          </a:prstGeom>
          <a:noFill/>
          <a:ln>
            <a:noFill/>
          </a:ln>
        </p:spPr>
      </p:pic>
      <p:sp>
        <p:nvSpPr>
          <p:cNvPr id="55" name="Google Shape;55;p13"/>
          <p:cNvSpPr txBox="1"/>
          <p:nvPr/>
        </p:nvSpPr>
        <p:spPr>
          <a:xfrm>
            <a:off x="383675" y="3446998"/>
            <a:ext cx="8520600" cy="443700"/>
          </a:xfrm>
          <a:prstGeom prst="rect">
            <a:avLst/>
          </a:prstGeom>
          <a:noFill/>
          <a:ln>
            <a:noFill/>
          </a:ln>
        </p:spPr>
        <p:txBody>
          <a:bodyPr spcFirstLastPara="1" wrap="square" lIns="91425" tIns="91425" rIns="91425" bIns="91425" anchor="t" anchorCtr="0">
            <a:normAutofit/>
          </a:bodyPr>
          <a:lstStyle/>
          <a:p>
            <a:pPr marL="0" lvl="0" indent="0" algn="l" rtl="0">
              <a:lnSpc>
                <a:spcPct val="80000"/>
              </a:lnSpc>
              <a:spcBef>
                <a:spcPts val="0"/>
              </a:spcBef>
              <a:spcAft>
                <a:spcPts val="0"/>
              </a:spcAft>
              <a:buNone/>
            </a:pPr>
            <a:r>
              <a:rPr lang="en-GB" sz="1600" b="1" dirty="0">
                <a:solidFill>
                  <a:srgbClr val="202729"/>
                </a:solidFill>
                <a:latin typeface="Manrope SemiBold"/>
                <a:ea typeface="Manrope SemiBold"/>
                <a:cs typeface="Manrope SemiBold"/>
                <a:sym typeface="Manrope SemiBold"/>
              </a:rPr>
              <a:t>Team Name </a:t>
            </a:r>
            <a:r>
              <a:rPr lang="en-GB" sz="1600" dirty="0">
                <a:solidFill>
                  <a:srgbClr val="202729"/>
                </a:solidFill>
                <a:latin typeface="Manrope SemiBold"/>
                <a:ea typeface="Manrope SemiBold"/>
                <a:cs typeface="Manrope SemiBold"/>
                <a:sym typeface="Manrope SemiBold"/>
              </a:rPr>
              <a:t>: Project Argus</a:t>
            </a:r>
            <a:endParaRPr sz="1600" dirty="0">
              <a:solidFill>
                <a:srgbClr val="202729"/>
              </a:solidFill>
              <a:latin typeface="Manrope SemiBold"/>
              <a:ea typeface="Manrope SemiBold"/>
              <a:cs typeface="Manrope SemiBold"/>
              <a:sym typeface="Manrope SemiBold"/>
            </a:endParaRPr>
          </a:p>
        </p:txBody>
      </p:sp>
      <p:sp>
        <p:nvSpPr>
          <p:cNvPr id="56" name="Google Shape;56;p13"/>
          <p:cNvSpPr txBox="1"/>
          <p:nvPr/>
        </p:nvSpPr>
        <p:spPr>
          <a:xfrm>
            <a:off x="383680" y="4298160"/>
            <a:ext cx="8520600" cy="408600"/>
          </a:xfrm>
          <a:prstGeom prst="rect">
            <a:avLst/>
          </a:prstGeom>
          <a:noFill/>
          <a:ln>
            <a:noFill/>
          </a:ln>
        </p:spPr>
        <p:txBody>
          <a:bodyPr spcFirstLastPara="1" wrap="square" lIns="91425" tIns="91425" rIns="91425" bIns="91425" anchor="t" anchorCtr="0">
            <a:noAutofit/>
          </a:bodyPr>
          <a:lstStyle/>
          <a:p>
            <a:pPr lvl="0">
              <a:lnSpc>
                <a:spcPct val="70000"/>
              </a:lnSpc>
            </a:pPr>
            <a:r>
              <a:rPr lang="en-GB" sz="1600" b="1" dirty="0">
                <a:solidFill>
                  <a:srgbClr val="202729"/>
                </a:solidFill>
                <a:latin typeface="Manrope SemiBold"/>
                <a:ea typeface="Manrope SemiBold"/>
                <a:cs typeface="Manrope SemiBold"/>
                <a:sym typeface="Manrope SemiBold"/>
              </a:rPr>
              <a:t>Problem Statement </a:t>
            </a:r>
            <a:r>
              <a:rPr lang="en-GB" sz="1600" dirty="0">
                <a:solidFill>
                  <a:srgbClr val="202729"/>
                </a:solidFill>
                <a:latin typeface="Manrope SemiBold"/>
                <a:ea typeface="Manrope SemiBold"/>
                <a:cs typeface="Manrope SemiBold"/>
                <a:sym typeface="Manrope SemiBold"/>
              </a:rPr>
              <a:t>: </a:t>
            </a:r>
            <a:r>
              <a:rPr lang="en-US" sz="1600" dirty="0"/>
              <a:t>(Track: AI for Communities, Access &amp; Public Impact)</a:t>
            </a:r>
            <a:br>
              <a:rPr lang="en-US" sz="1600" dirty="0"/>
            </a:br>
            <a:r>
              <a:rPr lang="en-US" sz="1600" dirty="0"/>
              <a:t>Preventing rental listing scams in Indian cities using AI-powered verification.</a:t>
            </a:r>
            <a:endParaRPr sz="1600" dirty="0">
              <a:solidFill>
                <a:srgbClr val="202729"/>
              </a:solidFill>
              <a:latin typeface="Manrope SemiBold"/>
              <a:ea typeface="Manrope SemiBold"/>
              <a:cs typeface="Manrope SemiBold"/>
              <a:sym typeface="Manrope SemiBold"/>
            </a:endParaRPr>
          </a:p>
        </p:txBody>
      </p:sp>
      <p:sp>
        <p:nvSpPr>
          <p:cNvPr id="57" name="Google Shape;57;p13"/>
          <p:cNvSpPr txBox="1"/>
          <p:nvPr/>
        </p:nvSpPr>
        <p:spPr>
          <a:xfrm>
            <a:off x="383663" y="3854458"/>
            <a:ext cx="8520600" cy="443700"/>
          </a:xfrm>
          <a:prstGeom prst="rect">
            <a:avLst/>
          </a:prstGeom>
          <a:noFill/>
          <a:ln>
            <a:noFill/>
          </a:ln>
        </p:spPr>
        <p:txBody>
          <a:bodyPr spcFirstLastPara="1" wrap="square" lIns="91425" tIns="91425" rIns="91425" bIns="91425" anchor="t" anchorCtr="0">
            <a:normAutofit/>
          </a:bodyPr>
          <a:lstStyle/>
          <a:p>
            <a:pPr marL="0" lvl="0" indent="0" algn="l" rtl="0">
              <a:lnSpc>
                <a:spcPct val="80000"/>
              </a:lnSpc>
              <a:spcBef>
                <a:spcPts val="0"/>
              </a:spcBef>
              <a:spcAft>
                <a:spcPts val="0"/>
              </a:spcAft>
              <a:buNone/>
            </a:pPr>
            <a:r>
              <a:rPr lang="en-GB" sz="1600" b="1" dirty="0">
                <a:solidFill>
                  <a:srgbClr val="202729"/>
                </a:solidFill>
                <a:latin typeface="Manrope SemiBold"/>
                <a:ea typeface="Manrope SemiBold"/>
                <a:cs typeface="Manrope SemiBold"/>
                <a:sym typeface="Manrope SemiBold"/>
              </a:rPr>
              <a:t>Team Leader Name </a:t>
            </a:r>
            <a:r>
              <a:rPr lang="en-GB" sz="1600" dirty="0">
                <a:solidFill>
                  <a:srgbClr val="202729"/>
                </a:solidFill>
                <a:latin typeface="Manrope SemiBold"/>
                <a:ea typeface="Manrope SemiBold"/>
                <a:cs typeface="Manrope SemiBold"/>
                <a:sym typeface="Manrope SemiBold"/>
              </a:rPr>
              <a:t>: </a:t>
            </a:r>
            <a:r>
              <a:rPr lang="en-GB" sz="1600" dirty="0" err="1">
                <a:solidFill>
                  <a:srgbClr val="202729"/>
                </a:solidFill>
                <a:latin typeface="Manrope SemiBold"/>
                <a:ea typeface="Manrope SemiBold"/>
                <a:cs typeface="Manrope SemiBold"/>
                <a:sym typeface="Manrope SemiBold"/>
              </a:rPr>
              <a:t>Keerat</a:t>
            </a:r>
            <a:r>
              <a:rPr lang="en-GB" sz="1600" dirty="0">
                <a:solidFill>
                  <a:srgbClr val="202729"/>
                </a:solidFill>
                <a:latin typeface="Manrope SemiBold"/>
                <a:ea typeface="Manrope SemiBold"/>
                <a:cs typeface="Manrope SemiBold"/>
                <a:sym typeface="Manrope SemiBold"/>
              </a:rPr>
              <a:t> </a:t>
            </a:r>
            <a:r>
              <a:rPr lang="en-GB" sz="1600" dirty="0" err="1">
                <a:solidFill>
                  <a:srgbClr val="202729"/>
                </a:solidFill>
                <a:latin typeface="Manrope SemiBold"/>
                <a:ea typeface="Manrope SemiBold"/>
                <a:cs typeface="Manrope SemiBold"/>
                <a:sym typeface="Manrope SemiBold"/>
              </a:rPr>
              <a:t>Khanuja</a:t>
            </a:r>
            <a:endParaRPr sz="1600" dirty="0">
              <a:solidFill>
                <a:srgbClr val="202729"/>
              </a:solidFill>
              <a:latin typeface="Manrope SemiBold"/>
              <a:ea typeface="Manrope SemiBold"/>
              <a:cs typeface="Manrope SemiBold"/>
              <a:sym typeface="Manrope Semi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pic>
        <p:nvPicPr>
          <p:cNvPr id="62" name="Google Shape;62;p14"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63" name="Google Shape;63;p14"/>
          <p:cNvSpPr txBox="1"/>
          <p:nvPr/>
        </p:nvSpPr>
        <p:spPr>
          <a:xfrm>
            <a:off x="311700" y="863550"/>
            <a:ext cx="2403000" cy="465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SzPts val="935"/>
              <a:buNone/>
            </a:pPr>
            <a:r>
              <a:rPr lang="en-GB" b="1" dirty="0">
                <a:solidFill>
                  <a:srgbClr val="202729"/>
                </a:solidFill>
                <a:latin typeface="Manrope"/>
                <a:ea typeface="Manrope"/>
                <a:cs typeface="Manrope"/>
                <a:sym typeface="Manrope"/>
              </a:rPr>
              <a:t>Brief about the Idea:</a:t>
            </a:r>
            <a:endParaRPr b="1" dirty="0">
              <a:solidFill>
                <a:srgbClr val="202729"/>
              </a:solidFill>
              <a:latin typeface="Manrope"/>
              <a:ea typeface="Manrope"/>
              <a:cs typeface="Manrope"/>
              <a:sym typeface="Manrope"/>
            </a:endParaRPr>
          </a:p>
        </p:txBody>
      </p:sp>
      <p:sp>
        <p:nvSpPr>
          <p:cNvPr id="2" name="TextBox 1">
            <a:extLst>
              <a:ext uri="{FF2B5EF4-FFF2-40B4-BE49-F238E27FC236}">
                <a16:creationId xmlns:a16="http://schemas.microsoft.com/office/drawing/2014/main" id="{6A9719C6-CAB4-436F-A6F9-C478077D89DD}"/>
              </a:ext>
            </a:extLst>
          </p:cNvPr>
          <p:cNvSpPr txBox="1"/>
          <p:nvPr/>
        </p:nvSpPr>
        <p:spPr>
          <a:xfrm>
            <a:off x="311700" y="1293926"/>
            <a:ext cx="8607287" cy="3631763"/>
          </a:xfrm>
          <a:prstGeom prst="rect">
            <a:avLst/>
          </a:prstGeom>
          <a:noFill/>
        </p:spPr>
        <p:txBody>
          <a:bodyPr wrap="square" rtlCol="0">
            <a:spAutoFit/>
          </a:bodyPr>
          <a:lstStyle/>
          <a:p>
            <a:r>
              <a:rPr lang="en-US" sz="1200" dirty="0"/>
              <a:t>Project Argus is an AI-powered rental listing verification system designed to protect renters in Indian cities from online housing scams.</a:t>
            </a:r>
          </a:p>
          <a:p>
            <a:endParaRPr lang="en-US" sz="1200" dirty="0"/>
          </a:p>
          <a:p>
            <a:r>
              <a:rPr lang="en-US" sz="1200" dirty="0"/>
              <a:t>Every year, millions of students, job seekers, and migrant families move to urban centers in search of housing. In this urgency, many fall victim to fraudulent listings that use stolen property images, fake addresses, unrealistically low prices, and brokers who disappear after taking advance payments. Today, renters have no automated way to verify whether a listing is genuine before sending money.</a:t>
            </a:r>
          </a:p>
          <a:p>
            <a:endParaRPr lang="en-US" sz="1200" dirty="0"/>
          </a:p>
          <a:p>
            <a:r>
              <a:rPr lang="en-US" sz="1200" dirty="0"/>
              <a:t>Project Argus acts as a </a:t>
            </a:r>
            <a:r>
              <a:rPr lang="en-US" sz="1200" b="1" dirty="0"/>
              <a:t>trust layer between rental listings and renters</a:t>
            </a:r>
            <a:r>
              <a:rPr lang="en-US" sz="1200" dirty="0"/>
              <a:t>. Users simply paste a listing link or enter listing details, and within seconds our AI analyzes multiple fraud signals such as pricing anomalies, image reuse across listings, suspicious language patterns, and broker posting behavior.</a:t>
            </a:r>
          </a:p>
          <a:p>
            <a:endParaRPr lang="en-US" sz="1200" dirty="0"/>
          </a:p>
          <a:p>
            <a:r>
              <a:rPr lang="en-US" sz="1200" dirty="0"/>
              <a:t>The system then generates a </a:t>
            </a:r>
            <a:r>
              <a:rPr lang="en-US" sz="1200" b="1" dirty="0"/>
              <a:t>clear risk score with explanations</a:t>
            </a:r>
            <a:r>
              <a:rPr lang="en-US" sz="1200" dirty="0"/>
              <a:t>, allowing users to make informed decisions before contacting brokers or making payments. Unlike rental platforms that only host listings, Argus focuses on </a:t>
            </a:r>
            <a:r>
              <a:rPr lang="en-US" sz="1200" b="1" dirty="0"/>
              <a:t>verification and fraud detection</a:t>
            </a:r>
            <a:r>
              <a:rPr lang="en-US" sz="1200" dirty="0"/>
              <a:t>, helping prevent financial loss and protecting vulnerable users. Our long-term vision is to make rental verification as common as spam detection in email — an invisible but powerful protection layer that keeps users safe.</a:t>
            </a:r>
          </a:p>
          <a:p>
            <a:endParaRPr lang="en-US" sz="1200" dirty="0"/>
          </a:p>
          <a:p>
            <a:r>
              <a:rPr lang="en-US" sz="1200" dirty="0"/>
              <a:t>Project Argus aims to bring trust, safety, and transparency into India’s rapidly growing digital rental ecosystem.</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15"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69" name="Google Shape;69;p15"/>
          <p:cNvSpPr txBox="1"/>
          <p:nvPr/>
        </p:nvSpPr>
        <p:spPr>
          <a:xfrm>
            <a:off x="311700" y="863549"/>
            <a:ext cx="8660022" cy="4079511"/>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935"/>
              <a:buNone/>
            </a:pPr>
            <a:r>
              <a:rPr lang="en-US" sz="1800" b="1" dirty="0">
                <a:solidFill>
                  <a:srgbClr val="202729"/>
                </a:solidFill>
                <a:latin typeface="Manrope"/>
                <a:ea typeface="Manrope"/>
                <a:cs typeface="Manrope"/>
                <a:sym typeface="Manrope"/>
              </a:rPr>
              <a:t>Our Solution : </a:t>
            </a:r>
          </a:p>
          <a:p>
            <a:pPr marL="0" lvl="0" indent="0" algn="l" rtl="0">
              <a:lnSpc>
                <a:spcPct val="115000"/>
              </a:lnSpc>
              <a:spcBef>
                <a:spcPts val="0"/>
              </a:spcBef>
              <a:spcAft>
                <a:spcPts val="0"/>
              </a:spcAft>
              <a:buSzPts val="935"/>
              <a:buNone/>
            </a:pPr>
            <a:endParaRPr sz="1700" b="1" dirty="0">
              <a:solidFill>
                <a:srgbClr val="202729"/>
              </a:solidFill>
              <a:latin typeface="Manrope"/>
              <a:ea typeface="Manrope"/>
              <a:cs typeface="Manrope"/>
              <a:sym typeface="Manrope"/>
            </a:endParaRPr>
          </a:p>
          <a:p>
            <a:pPr lvl="0">
              <a:lnSpc>
                <a:spcPct val="115000"/>
              </a:lnSpc>
              <a:spcBef>
                <a:spcPts val="1200"/>
              </a:spcBef>
              <a:spcAft>
                <a:spcPts val="1200"/>
              </a:spcAft>
              <a:buSzPts val="935"/>
            </a:pPr>
            <a:r>
              <a:rPr lang="en-US" sz="1600" dirty="0"/>
              <a:t>Project Argus differs from existing rental platforms by acting as an independent AI-powered verification layer rather than just hosting listings. Instead of relying on a single signal like reviews or pricing, it analyzes multiple factors simultaneously—price anomalies, reused images, scam language, and broker behavior—to detect fraud patterns that scammers cannot easily fake. By providing instant risk scores with clear explanations before users make payments, Argus helps renters avoid scams proactively. Its USP lies in real-time, multi-signal fraud detection designed specifically for Indian rental markets, making property search safer, faster, and more trustworthy across platforms.</a:t>
            </a:r>
            <a:endParaRPr sz="1600" dirty="0">
              <a:solidFill>
                <a:srgbClr val="202729"/>
              </a:solidFill>
              <a:latin typeface="Manrope SemiBold"/>
              <a:ea typeface="Manrope SemiBold"/>
              <a:cs typeface="Manrope SemiBold"/>
              <a:sym typeface="Manrope SemiBo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pic>
        <p:nvPicPr>
          <p:cNvPr id="74" name="Google Shape;74;p16"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75" name="Google Shape;75;p16"/>
          <p:cNvSpPr txBox="1"/>
          <p:nvPr/>
        </p:nvSpPr>
        <p:spPr>
          <a:xfrm>
            <a:off x="311700" y="863550"/>
            <a:ext cx="7531800" cy="36696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935"/>
              <a:buNone/>
            </a:pPr>
            <a:r>
              <a:rPr lang="en-GB" sz="1700" b="1" dirty="0">
                <a:solidFill>
                  <a:srgbClr val="202729"/>
                </a:solidFill>
                <a:latin typeface="Manrope"/>
                <a:ea typeface="Manrope"/>
                <a:cs typeface="Manrope"/>
                <a:sym typeface="Manrope"/>
              </a:rPr>
              <a:t>List of features offered by the solution – </a:t>
            </a:r>
          </a:p>
          <a:p>
            <a:pPr marL="0" lvl="0" indent="0" algn="l" rtl="0">
              <a:lnSpc>
                <a:spcPct val="115000"/>
              </a:lnSpc>
              <a:spcBef>
                <a:spcPts val="0"/>
              </a:spcBef>
              <a:spcAft>
                <a:spcPts val="0"/>
              </a:spcAft>
              <a:buSzPts val="935"/>
              <a:buNone/>
            </a:pPr>
            <a:endParaRPr sz="1700" b="1" dirty="0">
              <a:solidFill>
                <a:srgbClr val="202729"/>
              </a:solidFill>
              <a:latin typeface="Manrope"/>
              <a:ea typeface="Manrope"/>
              <a:cs typeface="Manrope"/>
              <a:sym typeface="Manrope"/>
            </a:endParaRPr>
          </a:p>
          <a:p>
            <a:pPr lvl="0">
              <a:lnSpc>
                <a:spcPct val="115000"/>
              </a:lnSpc>
              <a:spcBef>
                <a:spcPts val="1200"/>
              </a:spcBef>
              <a:spcAft>
                <a:spcPts val="1200"/>
              </a:spcAft>
              <a:buSzPts val="935"/>
            </a:pPr>
            <a:r>
              <a:rPr lang="en-US" dirty="0"/>
              <a:t>• </a:t>
            </a:r>
            <a:r>
              <a:rPr lang="en-US" b="1" dirty="0"/>
              <a:t>Price Anomaly Detection</a:t>
            </a:r>
            <a:r>
              <a:rPr lang="en-US" dirty="0"/>
              <a:t> – Flags listings priced far below real market rates</a:t>
            </a:r>
            <a:br>
              <a:rPr lang="en-US" dirty="0"/>
            </a:br>
            <a:r>
              <a:rPr lang="en-US" dirty="0"/>
              <a:t>• </a:t>
            </a:r>
            <a:r>
              <a:rPr lang="en-US" b="1" dirty="0"/>
              <a:t>Image Similarity Detection</a:t>
            </a:r>
            <a:r>
              <a:rPr lang="en-US" dirty="0"/>
              <a:t> – Detects stolen or reused property photos</a:t>
            </a:r>
            <a:br>
              <a:rPr lang="en-US" dirty="0"/>
            </a:br>
            <a:r>
              <a:rPr lang="en-US" dirty="0"/>
              <a:t>• </a:t>
            </a:r>
            <a:r>
              <a:rPr lang="en-US" b="1" dirty="0"/>
              <a:t>Scam Language Detection</a:t>
            </a:r>
            <a:r>
              <a:rPr lang="en-US" dirty="0"/>
              <a:t> – Identifies urgency and payment pressure tactics</a:t>
            </a:r>
            <a:br>
              <a:rPr lang="en-US" dirty="0"/>
            </a:br>
            <a:r>
              <a:rPr lang="en-US" dirty="0"/>
              <a:t>• </a:t>
            </a:r>
            <a:r>
              <a:rPr lang="en-US" b="1" dirty="0"/>
              <a:t>Broker Pattern Detection</a:t>
            </a:r>
            <a:r>
              <a:rPr lang="en-US" dirty="0"/>
              <a:t> – Flags repetitive or suspicious broker activity</a:t>
            </a:r>
            <a:br>
              <a:rPr lang="en-US" dirty="0"/>
            </a:br>
            <a:r>
              <a:rPr lang="en-US" dirty="0"/>
              <a:t>• </a:t>
            </a:r>
            <a:r>
              <a:rPr lang="en-US" b="1" dirty="0"/>
              <a:t>AI Risk Scoring</a:t>
            </a:r>
            <a:r>
              <a:rPr lang="en-US" dirty="0"/>
              <a:t> – Generates clear scam risk score (Genuine / Suspicious / High Risk)</a:t>
            </a:r>
            <a:br>
              <a:rPr lang="en-US" dirty="0"/>
            </a:br>
            <a:r>
              <a:rPr lang="en-US" dirty="0"/>
              <a:t>• </a:t>
            </a:r>
            <a:r>
              <a:rPr lang="en-US" b="1" dirty="0"/>
              <a:t>Explanation &amp; Safety Tips</a:t>
            </a:r>
            <a:r>
              <a:rPr lang="en-US" dirty="0"/>
              <a:t> – Users see </a:t>
            </a:r>
            <a:r>
              <a:rPr lang="en-US" i="1" dirty="0"/>
              <a:t>why</a:t>
            </a:r>
            <a:r>
              <a:rPr lang="en-US" dirty="0"/>
              <a:t> a listing is risky</a:t>
            </a:r>
            <a:br>
              <a:rPr lang="en-US" dirty="0"/>
            </a:br>
            <a:r>
              <a:rPr lang="en-US" dirty="0"/>
              <a:t>• </a:t>
            </a:r>
            <a:r>
              <a:rPr lang="en-US" b="1" dirty="0"/>
              <a:t>Instant Analysis (&lt;10 sec)</a:t>
            </a:r>
            <a:r>
              <a:rPr lang="en-US" dirty="0"/>
              <a:t> – Fast, real-time verification</a:t>
            </a:r>
            <a:br>
              <a:rPr lang="en-US" dirty="0"/>
            </a:br>
            <a:r>
              <a:rPr lang="en-US" dirty="0"/>
              <a:t>• </a:t>
            </a:r>
            <a:r>
              <a:rPr lang="en-US" b="1" dirty="0"/>
              <a:t>Mobile-Friendly Interface</a:t>
            </a:r>
            <a:r>
              <a:rPr lang="en-US" dirty="0"/>
              <a:t> – Simple verification for everyday users</a:t>
            </a:r>
            <a:endParaRPr dirty="0">
              <a:solidFill>
                <a:srgbClr val="434343"/>
              </a:solidFill>
              <a:latin typeface="Manrope"/>
              <a:ea typeface="Manrope"/>
              <a:cs typeface="Manrope"/>
              <a:sym typeface="Manrope"/>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pic>
        <p:nvPicPr>
          <p:cNvPr id="80" name="Google Shape;80;p17"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81" name="Google Shape;81;p17"/>
          <p:cNvSpPr txBox="1"/>
          <p:nvPr/>
        </p:nvSpPr>
        <p:spPr>
          <a:xfrm>
            <a:off x="258417" y="483703"/>
            <a:ext cx="8786192" cy="4492487"/>
          </a:xfrm>
          <a:prstGeom prst="rect">
            <a:avLst/>
          </a:prstGeom>
          <a:noFill/>
          <a:ln>
            <a:noFill/>
          </a:ln>
        </p:spPr>
        <p:txBody>
          <a:bodyPr spcFirstLastPara="1" wrap="square" lIns="91425" tIns="91425" rIns="91425" bIns="91425" anchor="t" anchorCtr="0">
            <a:normAutofit/>
          </a:bodyPr>
          <a:lstStyle/>
          <a:p>
            <a:pPr lvl="0">
              <a:lnSpc>
                <a:spcPct val="115000"/>
              </a:lnSpc>
              <a:buSzPts val="935"/>
            </a:pPr>
            <a:r>
              <a:rPr lang="en-US" sz="1700" b="1" dirty="0">
                <a:solidFill>
                  <a:srgbClr val="202729"/>
                </a:solidFill>
                <a:latin typeface="Manrope"/>
                <a:ea typeface="Manrope"/>
                <a:cs typeface="Manrope"/>
                <a:sym typeface="Manrope"/>
              </a:rPr>
              <a:t>Use-case flow shown in process diagram </a:t>
            </a:r>
            <a:r>
              <a:rPr lang="en-GB" sz="1700" b="1" dirty="0">
                <a:solidFill>
                  <a:srgbClr val="202729"/>
                </a:solidFill>
                <a:latin typeface="Manrope"/>
                <a:ea typeface="Manrope"/>
                <a:cs typeface="Manrope"/>
                <a:sym typeface="Manrope"/>
              </a:rPr>
              <a:t>- </a:t>
            </a:r>
            <a:endParaRPr sz="1700" b="1" dirty="0">
              <a:solidFill>
                <a:srgbClr val="202729"/>
              </a:solidFill>
              <a:latin typeface="Manrope"/>
              <a:ea typeface="Manrope"/>
              <a:cs typeface="Manrope"/>
              <a:sym typeface="Manrope"/>
            </a:endParaRPr>
          </a:p>
          <a:p>
            <a:pPr marL="0" lvl="0" indent="0" algn="l" rtl="0">
              <a:lnSpc>
                <a:spcPct val="115000"/>
              </a:lnSpc>
              <a:spcBef>
                <a:spcPts val="1200"/>
              </a:spcBef>
              <a:spcAft>
                <a:spcPts val="1200"/>
              </a:spcAft>
              <a:buSzPts val="935"/>
              <a:buNone/>
            </a:pPr>
            <a:r>
              <a:rPr lang="en-GB" dirty="0">
                <a:solidFill>
                  <a:srgbClr val="434343"/>
                </a:solidFill>
                <a:latin typeface="Manrope"/>
                <a:ea typeface="Manrope"/>
                <a:cs typeface="Manrope"/>
                <a:sym typeface="Manrope"/>
              </a:rPr>
              <a:t>.</a:t>
            </a:r>
            <a:endParaRPr dirty="0">
              <a:solidFill>
                <a:srgbClr val="434343"/>
              </a:solidFill>
              <a:latin typeface="Manrope"/>
              <a:ea typeface="Manrope"/>
              <a:cs typeface="Manrope"/>
              <a:sym typeface="Manrope"/>
            </a:endParaRPr>
          </a:p>
        </p:txBody>
      </p:sp>
      <p:pic>
        <p:nvPicPr>
          <p:cNvPr id="2" name="Picture 1">
            <a:extLst>
              <a:ext uri="{FF2B5EF4-FFF2-40B4-BE49-F238E27FC236}">
                <a16:creationId xmlns:a16="http://schemas.microsoft.com/office/drawing/2014/main" id="{984F64A2-9B17-429C-B4AB-E83F9095110C}"/>
              </a:ext>
            </a:extLst>
          </p:cNvPr>
          <p:cNvPicPr>
            <a:picLocks noChangeAspect="1"/>
          </p:cNvPicPr>
          <p:nvPr/>
        </p:nvPicPr>
        <p:blipFill>
          <a:blip r:embed="rId4"/>
          <a:stretch>
            <a:fillRect/>
          </a:stretch>
        </p:blipFill>
        <p:spPr>
          <a:xfrm>
            <a:off x="470452" y="939062"/>
            <a:ext cx="8116957" cy="403712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pic>
        <p:nvPicPr>
          <p:cNvPr id="92" name="Google Shape;92;p19"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93" name="Google Shape;93;p19"/>
          <p:cNvSpPr txBox="1"/>
          <p:nvPr/>
        </p:nvSpPr>
        <p:spPr>
          <a:xfrm>
            <a:off x="311699" y="563217"/>
            <a:ext cx="8626891" cy="4320209"/>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SzPts val="935"/>
              <a:buNone/>
            </a:pPr>
            <a:r>
              <a:rPr lang="en-GB" sz="1700" b="1" dirty="0">
                <a:solidFill>
                  <a:srgbClr val="202729"/>
                </a:solidFill>
                <a:latin typeface="Manrope"/>
                <a:ea typeface="Manrope"/>
                <a:cs typeface="Manrope"/>
                <a:sym typeface="Manrope"/>
              </a:rPr>
              <a:t>Architecture diagram – </a:t>
            </a:r>
          </a:p>
          <a:p>
            <a:pPr marL="0" lvl="0" indent="0" algn="l" rtl="0">
              <a:lnSpc>
                <a:spcPct val="115000"/>
              </a:lnSpc>
              <a:spcBef>
                <a:spcPts val="0"/>
              </a:spcBef>
              <a:spcAft>
                <a:spcPts val="1200"/>
              </a:spcAft>
              <a:buSzPts val="935"/>
              <a:buNone/>
            </a:pPr>
            <a:endParaRPr dirty="0">
              <a:solidFill>
                <a:srgbClr val="434343"/>
              </a:solidFill>
              <a:latin typeface="Manrope"/>
              <a:ea typeface="Manrope"/>
              <a:cs typeface="Manrope"/>
              <a:sym typeface="Manrope"/>
            </a:endParaRPr>
          </a:p>
        </p:txBody>
      </p:sp>
      <p:pic>
        <p:nvPicPr>
          <p:cNvPr id="2" name="Picture 1">
            <a:extLst>
              <a:ext uri="{FF2B5EF4-FFF2-40B4-BE49-F238E27FC236}">
                <a16:creationId xmlns:a16="http://schemas.microsoft.com/office/drawing/2014/main" id="{B9004475-D09D-4274-8080-B9336F305727}"/>
              </a:ext>
            </a:extLst>
          </p:cNvPr>
          <p:cNvPicPr>
            <a:picLocks noChangeAspect="1"/>
          </p:cNvPicPr>
          <p:nvPr/>
        </p:nvPicPr>
        <p:blipFill>
          <a:blip r:embed="rId4"/>
          <a:stretch>
            <a:fillRect/>
          </a:stretch>
        </p:blipFill>
        <p:spPr>
          <a:xfrm>
            <a:off x="205410" y="974035"/>
            <a:ext cx="8676208" cy="416946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20"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99" name="Google Shape;99;p20"/>
          <p:cNvSpPr txBox="1"/>
          <p:nvPr/>
        </p:nvSpPr>
        <p:spPr>
          <a:xfrm>
            <a:off x="184731" y="645355"/>
            <a:ext cx="8780365" cy="4304332"/>
          </a:xfrm>
          <a:prstGeom prst="rect">
            <a:avLst/>
          </a:prstGeom>
          <a:noFill/>
          <a:ln>
            <a:noFill/>
          </a:ln>
        </p:spPr>
        <p:txBody>
          <a:bodyPr spcFirstLastPara="1" wrap="square" lIns="91425" tIns="91425" rIns="91425" bIns="91425" anchor="t" anchorCtr="0">
            <a:normAutofit fontScale="92500" lnSpcReduction="10000"/>
          </a:bodyPr>
          <a:lstStyle/>
          <a:p>
            <a:pPr marL="0" lvl="0" indent="0" algn="l" rtl="0">
              <a:lnSpc>
                <a:spcPct val="115000"/>
              </a:lnSpc>
              <a:spcBef>
                <a:spcPts val="0"/>
              </a:spcBef>
              <a:spcAft>
                <a:spcPts val="1200"/>
              </a:spcAft>
              <a:buSzPts val="935"/>
              <a:buNone/>
            </a:pPr>
            <a:r>
              <a:rPr lang="en-GB" sz="1700" b="1" dirty="0">
                <a:solidFill>
                  <a:srgbClr val="202729"/>
                </a:solidFill>
                <a:latin typeface="Manrope"/>
                <a:ea typeface="Manrope"/>
                <a:cs typeface="Manrope"/>
                <a:sym typeface="Manrope"/>
              </a:rPr>
              <a:t>Technologies to be used in the solution:</a:t>
            </a:r>
          </a:p>
          <a:p>
            <a:pPr lvl="0" eaLnBrk="0" fontAlgn="base" hangingPunct="0">
              <a:spcBef>
                <a:spcPct val="0"/>
              </a:spcBef>
              <a:spcAft>
                <a:spcPct val="0"/>
              </a:spcAft>
              <a:buClrTx/>
            </a:pPr>
            <a:r>
              <a:rPr lang="en-US" altLang="en-US" b="1" dirty="0">
                <a:solidFill>
                  <a:schemeClr val="tx1"/>
                </a:solidFill>
                <a:latin typeface="Arial" panose="020B0604020202020204" pitchFamily="34" charset="0"/>
              </a:rPr>
              <a:t>Frontend</a:t>
            </a:r>
            <a:br>
              <a:rPr lang="en-US" altLang="en-US" dirty="0">
                <a:solidFill>
                  <a:schemeClr val="tx1"/>
                </a:solidFill>
                <a:latin typeface="Arial" panose="020B0604020202020204" pitchFamily="34" charset="0"/>
              </a:rPr>
            </a:br>
            <a:r>
              <a:rPr lang="en-US" altLang="en-US" dirty="0">
                <a:solidFill>
                  <a:schemeClr val="tx1"/>
                </a:solidFill>
                <a:latin typeface="Arial" panose="020B0604020202020204" pitchFamily="34" charset="0"/>
              </a:rPr>
              <a:t>• React.js (Web Interface)</a:t>
            </a:r>
            <a:br>
              <a:rPr lang="en-US" altLang="en-US" dirty="0">
                <a:solidFill>
                  <a:schemeClr val="tx1"/>
                </a:solidFill>
                <a:latin typeface="Arial" panose="020B0604020202020204" pitchFamily="34" charset="0"/>
              </a:rPr>
            </a:br>
            <a:r>
              <a:rPr lang="en-US" altLang="en-US" dirty="0">
                <a:solidFill>
                  <a:schemeClr val="tx1"/>
                </a:solidFill>
                <a:latin typeface="Arial" panose="020B0604020202020204" pitchFamily="34" charset="0"/>
              </a:rPr>
              <a:t>• </a:t>
            </a:r>
            <a:r>
              <a:rPr lang="en-US" altLang="en-US" dirty="0" err="1">
                <a:solidFill>
                  <a:schemeClr val="tx1"/>
                </a:solidFill>
                <a:latin typeface="Arial" panose="020B0604020202020204" pitchFamily="34" charset="0"/>
              </a:rPr>
              <a:t>TailwindCSS</a:t>
            </a:r>
            <a:r>
              <a:rPr lang="en-US" altLang="en-US" dirty="0">
                <a:solidFill>
                  <a:schemeClr val="tx1"/>
                </a:solidFill>
                <a:latin typeface="Arial" panose="020B0604020202020204" pitchFamily="34" charset="0"/>
              </a:rPr>
              <a:t> (UI Design)</a:t>
            </a:r>
          </a:p>
          <a:p>
            <a:pPr lvl="0" eaLnBrk="0" fontAlgn="base" hangingPunct="0">
              <a:spcBef>
                <a:spcPct val="0"/>
              </a:spcBef>
              <a:spcAft>
                <a:spcPct val="0"/>
              </a:spcAft>
              <a:buClrTx/>
            </a:pPr>
            <a:endParaRPr lang="en-US" altLang="en-US" dirty="0">
              <a:solidFill>
                <a:schemeClr val="tx1"/>
              </a:solidFill>
              <a:latin typeface="Arial" panose="020B0604020202020204" pitchFamily="34" charset="0"/>
            </a:endParaRPr>
          </a:p>
          <a:p>
            <a:pPr lvl="0" eaLnBrk="0" fontAlgn="base" hangingPunct="0">
              <a:spcBef>
                <a:spcPct val="0"/>
              </a:spcBef>
              <a:spcAft>
                <a:spcPct val="0"/>
              </a:spcAft>
              <a:buClrTx/>
            </a:pPr>
            <a:r>
              <a:rPr lang="en-US" altLang="en-US" b="1" dirty="0">
                <a:solidFill>
                  <a:schemeClr val="tx1"/>
                </a:solidFill>
                <a:latin typeface="Arial" panose="020B0604020202020204" pitchFamily="34" charset="0"/>
              </a:rPr>
              <a:t>Backend &amp; Cloud</a:t>
            </a:r>
            <a:br>
              <a:rPr lang="en-US" altLang="en-US" dirty="0">
                <a:solidFill>
                  <a:schemeClr val="tx1"/>
                </a:solidFill>
                <a:latin typeface="Arial" panose="020B0604020202020204" pitchFamily="34" charset="0"/>
              </a:rPr>
            </a:br>
            <a:r>
              <a:rPr lang="en-US" altLang="en-US" dirty="0">
                <a:solidFill>
                  <a:schemeClr val="tx1"/>
                </a:solidFill>
                <a:latin typeface="Arial" panose="020B0604020202020204" pitchFamily="34" charset="0"/>
              </a:rPr>
              <a:t>• AWS Lambda (Serverless Compute)</a:t>
            </a:r>
            <a:br>
              <a:rPr lang="en-US" altLang="en-US" dirty="0">
                <a:solidFill>
                  <a:schemeClr val="tx1"/>
                </a:solidFill>
                <a:latin typeface="Arial" panose="020B0604020202020204" pitchFamily="34" charset="0"/>
              </a:rPr>
            </a:br>
            <a:r>
              <a:rPr lang="en-US" altLang="en-US" dirty="0">
                <a:solidFill>
                  <a:schemeClr val="tx1"/>
                </a:solidFill>
                <a:latin typeface="Arial" panose="020B0604020202020204" pitchFamily="34" charset="0"/>
              </a:rPr>
              <a:t>• Amazon API Gateway (API Management)</a:t>
            </a:r>
          </a:p>
          <a:p>
            <a:pPr lvl="0" eaLnBrk="0" fontAlgn="base" hangingPunct="0">
              <a:spcBef>
                <a:spcPct val="0"/>
              </a:spcBef>
              <a:spcAft>
                <a:spcPct val="0"/>
              </a:spcAft>
              <a:buClrTx/>
            </a:pPr>
            <a:endParaRPr lang="en-US" altLang="en-US" dirty="0">
              <a:solidFill>
                <a:schemeClr val="tx1"/>
              </a:solidFill>
              <a:latin typeface="Arial" panose="020B0604020202020204" pitchFamily="34" charset="0"/>
            </a:endParaRPr>
          </a:p>
          <a:p>
            <a:pPr lvl="0" eaLnBrk="0" fontAlgn="base" hangingPunct="0">
              <a:spcBef>
                <a:spcPct val="0"/>
              </a:spcBef>
              <a:spcAft>
                <a:spcPct val="0"/>
              </a:spcAft>
              <a:buClrTx/>
            </a:pPr>
            <a:r>
              <a:rPr lang="en-US" altLang="en-US" b="1" dirty="0">
                <a:solidFill>
                  <a:schemeClr val="tx1"/>
                </a:solidFill>
                <a:latin typeface="Arial" panose="020B0604020202020204" pitchFamily="34" charset="0"/>
              </a:rPr>
              <a:t>AI &amp; ML Services</a:t>
            </a:r>
            <a:br>
              <a:rPr lang="en-US" altLang="en-US" dirty="0">
                <a:solidFill>
                  <a:schemeClr val="tx1"/>
                </a:solidFill>
                <a:latin typeface="Arial" panose="020B0604020202020204" pitchFamily="34" charset="0"/>
              </a:rPr>
            </a:br>
            <a:r>
              <a:rPr lang="en-US" altLang="en-US" dirty="0">
                <a:solidFill>
                  <a:schemeClr val="tx1"/>
                </a:solidFill>
                <a:latin typeface="Arial" panose="020B0604020202020204" pitchFamily="34" charset="0"/>
              </a:rPr>
              <a:t>• Amazon </a:t>
            </a:r>
            <a:r>
              <a:rPr lang="en-US" altLang="en-US" dirty="0" err="1">
                <a:solidFill>
                  <a:schemeClr val="tx1"/>
                </a:solidFill>
                <a:latin typeface="Arial" panose="020B0604020202020204" pitchFamily="34" charset="0"/>
              </a:rPr>
              <a:t>Rekognition</a:t>
            </a:r>
            <a:r>
              <a:rPr lang="en-US" altLang="en-US" dirty="0">
                <a:solidFill>
                  <a:schemeClr val="tx1"/>
                </a:solidFill>
                <a:latin typeface="Arial" panose="020B0604020202020204" pitchFamily="34" charset="0"/>
              </a:rPr>
              <a:t> (Image Analysis)</a:t>
            </a:r>
            <a:br>
              <a:rPr lang="en-US" altLang="en-US" dirty="0">
                <a:solidFill>
                  <a:schemeClr val="tx1"/>
                </a:solidFill>
                <a:latin typeface="Arial" panose="020B0604020202020204" pitchFamily="34" charset="0"/>
              </a:rPr>
            </a:br>
            <a:r>
              <a:rPr lang="en-US" altLang="en-US" dirty="0">
                <a:solidFill>
                  <a:schemeClr val="tx1"/>
                </a:solidFill>
                <a:latin typeface="Arial" panose="020B0604020202020204" pitchFamily="34" charset="0"/>
              </a:rPr>
              <a:t>• Amazon Comprehend (Text &amp; NLP Analysis)</a:t>
            </a:r>
          </a:p>
          <a:p>
            <a:pPr lvl="0" eaLnBrk="0" fontAlgn="base" hangingPunct="0">
              <a:spcBef>
                <a:spcPct val="0"/>
              </a:spcBef>
              <a:spcAft>
                <a:spcPct val="0"/>
              </a:spcAft>
              <a:buClrTx/>
            </a:pPr>
            <a:endParaRPr lang="en-US" altLang="en-US" dirty="0">
              <a:solidFill>
                <a:schemeClr val="tx1"/>
              </a:solidFill>
              <a:latin typeface="Arial" panose="020B0604020202020204" pitchFamily="34" charset="0"/>
            </a:endParaRPr>
          </a:p>
          <a:p>
            <a:pPr lvl="0" eaLnBrk="0" fontAlgn="base" hangingPunct="0">
              <a:spcBef>
                <a:spcPct val="0"/>
              </a:spcBef>
              <a:spcAft>
                <a:spcPct val="0"/>
              </a:spcAft>
              <a:buClrTx/>
            </a:pPr>
            <a:r>
              <a:rPr lang="en-US" altLang="en-US" b="1" dirty="0">
                <a:solidFill>
                  <a:schemeClr val="tx1"/>
                </a:solidFill>
                <a:latin typeface="Arial" panose="020B0604020202020204" pitchFamily="34" charset="0"/>
              </a:rPr>
              <a:t>Database &amp; Storage</a:t>
            </a:r>
            <a:br>
              <a:rPr lang="en-US" altLang="en-US" dirty="0">
                <a:solidFill>
                  <a:schemeClr val="tx1"/>
                </a:solidFill>
                <a:latin typeface="Arial" panose="020B0604020202020204" pitchFamily="34" charset="0"/>
              </a:rPr>
            </a:br>
            <a:r>
              <a:rPr lang="en-US" altLang="en-US" dirty="0">
                <a:solidFill>
                  <a:schemeClr val="tx1"/>
                </a:solidFill>
                <a:latin typeface="Arial" panose="020B0604020202020204" pitchFamily="34" charset="0"/>
              </a:rPr>
              <a:t>• Amazon DynamoDB (Listing &amp; Analysis Data)</a:t>
            </a:r>
            <a:br>
              <a:rPr lang="en-US" altLang="en-US" dirty="0">
                <a:solidFill>
                  <a:schemeClr val="tx1"/>
                </a:solidFill>
                <a:latin typeface="Arial" panose="020B0604020202020204" pitchFamily="34" charset="0"/>
              </a:rPr>
            </a:br>
            <a:r>
              <a:rPr lang="en-US" altLang="en-US" dirty="0">
                <a:solidFill>
                  <a:schemeClr val="tx1"/>
                </a:solidFill>
                <a:latin typeface="Arial" panose="020B0604020202020204" pitchFamily="34" charset="0"/>
              </a:rPr>
              <a:t>• Amazon S3 (Image Storage)</a:t>
            </a:r>
          </a:p>
          <a:p>
            <a:pPr lvl="0" eaLnBrk="0" fontAlgn="base" hangingPunct="0">
              <a:spcBef>
                <a:spcPct val="0"/>
              </a:spcBef>
              <a:spcAft>
                <a:spcPct val="0"/>
              </a:spcAft>
              <a:buClrTx/>
            </a:pPr>
            <a:endParaRPr lang="en-US" altLang="en-US" dirty="0">
              <a:solidFill>
                <a:schemeClr val="tx1"/>
              </a:solidFill>
              <a:latin typeface="Arial" panose="020B0604020202020204" pitchFamily="34" charset="0"/>
            </a:endParaRPr>
          </a:p>
          <a:p>
            <a:pPr lvl="0" eaLnBrk="0" fontAlgn="base" hangingPunct="0">
              <a:spcBef>
                <a:spcPct val="0"/>
              </a:spcBef>
              <a:spcAft>
                <a:spcPct val="0"/>
              </a:spcAft>
              <a:buClrTx/>
            </a:pPr>
            <a:r>
              <a:rPr lang="en-US" altLang="en-US" b="1" dirty="0">
                <a:solidFill>
                  <a:schemeClr val="tx1"/>
                </a:solidFill>
                <a:latin typeface="Arial" panose="020B0604020202020204" pitchFamily="34" charset="0"/>
              </a:rPr>
              <a:t>Deployment &amp; Delivery</a:t>
            </a:r>
            <a:br>
              <a:rPr lang="en-US" altLang="en-US" dirty="0">
                <a:solidFill>
                  <a:schemeClr val="tx1"/>
                </a:solidFill>
                <a:latin typeface="Arial" panose="020B0604020202020204" pitchFamily="34" charset="0"/>
              </a:rPr>
            </a:br>
            <a:r>
              <a:rPr lang="en-US" altLang="en-US" dirty="0">
                <a:solidFill>
                  <a:schemeClr val="tx1"/>
                </a:solidFill>
                <a:latin typeface="Arial" panose="020B0604020202020204" pitchFamily="34" charset="0"/>
              </a:rPr>
              <a:t>• Amazon CloudFront (Content Delivery)</a:t>
            </a:r>
            <a:br>
              <a:rPr lang="en-US" altLang="en-US" dirty="0">
                <a:solidFill>
                  <a:schemeClr val="tx1"/>
                </a:solidFill>
                <a:latin typeface="Arial" panose="020B0604020202020204" pitchFamily="34" charset="0"/>
              </a:rPr>
            </a:br>
            <a:r>
              <a:rPr lang="en-US" altLang="en-US" dirty="0">
                <a:solidFill>
                  <a:schemeClr val="tx1"/>
                </a:solidFill>
                <a:latin typeface="Arial" panose="020B0604020202020204" pitchFamily="34" charset="0"/>
              </a:rPr>
              <a:t>• AWS IAM &amp; CloudWatch (Security &amp; Monitoring)</a:t>
            </a:r>
          </a:p>
          <a:p>
            <a:pPr marL="0" lvl="0" indent="0" algn="l" rtl="0">
              <a:lnSpc>
                <a:spcPct val="115000"/>
              </a:lnSpc>
              <a:spcBef>
                <a:spcPts val="0"/>
              </a:spcBef>
              <a:spcAft>
                <a:spcPts val="1200"/>
              </a:spcAft>
              <a:buSzPts val="935"/>
              <a:buNone/>
            </a:pPr>
            <a:endParaRPr dirty="0">
              <a:solidFill>
                <a:srgbClr val="434343"/>
              </a:solidFill>
              <a:latin typeface="Manrope"/>
              <a:ea typeface="Manrope"/>
              <a:cs typeface="Manrope"/>
              <a:sym typeface="Manrope"/>
            </a:endParaRPr>
          </a:p>
        </p:txBody>
      </p:sp>
      <p:sp>
        <p:nvSpPr>
          <p:cNvPr id="5" name="Rectangle 4">
            <a:extLst>
              <a:ext uri="{FF2B5EF4-FFF2-40B4-BE49-F238E27FC236}">
                <a16:creationId xmlns:a16="http://schemas.microsoft.com/office/drawing/2014/main" id="{1AF00D62-61B1-4055-AF22-504BF6B5EF77}"/>
              </a:ext>
            </a:extLst>
          </p:cNvPr>
          <p:cNvSpPr>
            <a:spLocks noChangeArrowheads="1"/>
          </p:cNvSpPr>
          <p:nvPr/>
        </p:nvSpPr>
        <p:spPr bwMode="auto">
          <a:xfrm>
            <a:off x="0" y="457200"/>
            <a:ext cx="9144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pic>
        <p:nvPicPr>
          <p:cNvPr id="104" name="Google Shape;104;p21"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105" name="Google Shape;105;p21"/>
          <p:cNvSpPr txBox="1"/>
          <p:nvPr/>
        </p:nvSpPr>
        <p:spPr>
          <a:xfrm>
            <a:off x="311700" y="863550"/>
            <a:ext cx="7531800" cy="36696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SzPts val="935"/>
              <a:buNone/>
            </a:pPr>
            <a:r>
              <a:rPr lang="en-GB" sz="1700" b="1" dirty="0">
                <a:solidFill>
                  <a:srgbClr val="202729"/>
                </a:solidFill>
                <a:latin typeface="Manrope" panose="020B0604020202020204" charset="0"/>
                <a:ea typeface="Manrope"/>
                <a:cs typeface="Manrope"/>
                <a:sym typeface="Manrope"/>
              </a:rPr>
              <a:t>Estimated implementation cost :</a:t>
            </a:r>
          </a:p>
          <a:p>
            <a:pPr lvl="0">
              <a:lnSpc>
                <a:spcPct val="115000"/>
              </a:lnSpc>
              <a:spcAft>
                <a:spcPts val="1200"/>
              </a:spcAft>
              <a:buSzPts val="935"/>
            </a:pPr>
            <a:r>
              <a:rPr lang="en-US" sz="1800" dirty="0"/>
              <a:t>• MVP infrastructure cost: </a:t>
            </a:r>
            <a:r>
              <a:rPr lang="en-US" sz="1800" b="1" dirty="0"/>
              <a:t>$30–50 per month</a:t>
            </a:r>
            <a:r>
              <a:rPr lang="en-US" sz="1800" dirty="0"/>
              <a:t> using AWS serverless services</a:t>
            </a:r>
            <a:br>
              <a:rPr lang="en-US" sz="1800" dirty="0"/>
            </a:br>
            <a:r>
              <a:rPr lang="en-US" sz="1800" dirty="0"/>
              <a:t>• Costs scale with usage due to pay-per-use architecture</a:t>
            </a:r>
            <a:br>
              <a:rPr lang="en-US" sz="1800" dirty="0"/>
            </a:br>
            <a:r>
              <a:rPr lang="en-US" sz="1800" dirty="0"/>
              <a:t>• Minimal upfront infrastructure investment required</a:t>
            </a:r>
            <a:br>
              <a:rPr lang="en-US" sz="1800" dirty="0"/>
            </a:br>
            <a:r>
              <a:rPr lang="en-US" sz="1800" dirty="0"/>
              <a:t>• Suitable for rapid scaling without major hardware costs</a:t>
            </a:r>
            <a:endParaRPr lang="en-US" sz="1800" dirty="0">
              <a:solidFill>
                <a:srgbClr val="434343"/>
              </a:solidFill>
              <a:latin typeface="Manrope"/>
              <a:ea typeface="Manrope"/>
              <a:cs typeface="Manrope"/>
              <a:sym typeface="Manrope"/>
            </a:endParaRPr>
          </a:p>
          <a:p>
            <a:pPr marL="0" lvl="0" indent="0" algn="l" rtl="0">
              <a:lnSpc>
                <a:spcPct val="115000"/>
              </a:lnSpc>
              <a:spcBef>
                <a:spcPts val="0"/>
              </a:spcBef>
              <a:spcAft>
                <a:spcPts val="1200"/>
              </a:spcAft>
              <a:buSzPts val="935"/>
              <a:buNone/>
            </a:pPr>
            <a:endParaRPr lang="en-GB" sz="1700" b="1" dirty="0">
              <a:solidFill>
                <a:srgbClr val="202729"/>
              </a:solidFill>
              <a:latin typeface="Manrope"/>
              <a:ea typeface="Manrope"/>
              <a:cs typeface="Manrope"/>
              <a:sym typeface="Manrope"/>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pic>
        <p:nvPicPr>
          <p:cNvPr id="110" name="Google Shape;110;p22"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111" name="Google Shape;111;p22"/>
          <p:cNvSpPr txBox="1"/>
          <p:nvPr/>
        </p:nvSpPr>
        <p:spPr>
          <a:xfrm>
            <a:off x="212310" y="863550"/>
            <a:ext cx="7531800" cy="3669600"/>
          </a:xfrm>
          <a:prstGeom prst="rect">
            <a:avLst/>
          </a:prstGeom>
          <a:noFill/>
          <a:ln>
            <a:noFill/>
          </a:ln>
        </p:spPr>
        <p:txBody>
          <a:bodyPr spcFirstLastPara="1" wrap="square" lIns="91425" tIns="91425" rIns="91425" bIns="91425" anchor="t" anchorCtr="0">
            <a:normAutofit fontScale="92500" lnSpcReduction="10000"/>
          </a:bodyPr>
          <a:lstStyle/>
          <a:p>
            <a:pPr lvl="0">
              <a:lnSpc>
                <a:spcPct val="115000"/>
              </a:lnSpc>
              <a:spcAft>
                <a:spcPts val="1200"/>
              </a:spcAft>
              <a:buSzPts val="935"/>
            </a:pPr>
            <a:r>
              <a:rPr lang="en-US" sz="2000" b="1" dirty="0">
                <a:latin typeface="Manrope" panose="020B0604020202020204" charset="0"/>
              </a:rPr>
              <a:t>Real-World Impact – </a:t>
            </a:r>
          </a:p>
          <a:p>
            <a:pPr lvl="0">
              <a:lnSpc>
                <a:spcPct val="115000"/>
              </a:lnSpc>
              <a:spcAft>
                <a:spcPts val="1200"/>
              </a:spcAft>
              <a:buSzPts val="935"/>
            </a:pPr>
            <a:r>
              <a:rPr lang="en-US" sz="2000" dirty="0"/>
              <a:t>• Helps prevent rental fraud and financial loss for students, migrants, and families relocating to cities</a:t>
            </a:r>
            <a:br>
              <a:rPr lang="en-US" sz="2000" dirty="0"/>
            </a:br>
            <a:r>
              <a:rPr lang="en-US" sz="2000" dirty="0"/>
              <a:t>• Builds trust in India’s digital rental ecosystem through AI-powered verification</a:t>
            </a:r>
            <a:br>
              <a:rPr lang="en-US" sz="2000" dirty="0"/>
            </a:br>
            <a:r>
              <a:rPr lang="en-US" sz="2000" dirty="0"/>
              <a:t>• Protects vulnerable renters before scams occur, not after</a:t>
            </a:r>
            <a:br>
              <a:rPr lang="en-US" sz="2000" dirty="0"/>
            </a:br>
            <a:r>
              <a:rPr lang="en-US" sz="2000" dirty="0"/>
              <a:t>• Scalable solution that can expand across cities and integrate with rental platforms nationwide</a:t>
            </a:r>
            <a:br>
              <a:rPr lang="en-US" sz="2000" dirty="0"/>
            </a:br>
            <a:r>
              <a:rPr lang="en-US" sz="2000" dirty="0"/>
              <a:t>• Potential to save crores of rupees annually by reducing rental scams</a:t>
            </a:r>
            <a:endParaRPr sz="2000" b="1" dirty="0">
              <a:solidFill>
                <a:srgbClr val="434343"/>
              </a:solidFill>
              <a:latin typeface="Manrope"/>
              <a:ea typeface="Manrope"/>
              <a:cs typeface="Manrope"/>
              <a:sym typeface="Manrope"/>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23" title="AI for Bharddat BANNER – 5.png"/>
          <p:cNvPicPr preferRelativeResize="0"/>
          <p:nvPr/>
        </p:nvPicPr>
        <p:blipFill rotWithShape="1">
          <a:blip r:embed="rId3">
            <a:alphaModFix/>
          </a:blip>
          <a:srcRect/>
          <a:stretch/>
        </p:blipFill>
        <p:spPr>
          <a:xfrm>
            <a:off x="0" y="0"/>
            <a:ext cx="9144018" cy="5143501"/>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TotalTime>
  <Words>747</Words>
  <Application>Microsoft Office PowerPoint</Application>
  <PresentationFormat>On-screen Show (16:9)</PresentationFormat>
  <Paragraphs>36</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Manrope</vt:lpstr>
      <vt:lpstr>Manrope SemiBold</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Keerat Khanuja</dc:creator>
  <cp:lastModifiedBy>PC-ASUS</cp:lastModifiedBy>
  <cp:revision>5</cp:revision>
  <dcterms:modified xsi:type="dcterms:W3CDTF">2026-02-15T18:10:01Z</dcterms:modified>
</cp:coreProperties>
</file>